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4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charts/chart5.xml" ContentType="application/vnd.openxmlformats-officedocument.drawingml.chart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charts/chart6.xml" ContentType="application/vnd.openxmlformats-officedocument.drawingml.chart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charts/chart7.xml" ContentType="application/vnd.openxmlformats-officedocument.drawingml.chart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notesMasterIdLst>
    <p:notesMasterId r:id="rId6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παιδιών</c:v>
                </c:pt>
              </c:strCache>
            </c:strRef>
          </c:tx>
          <c:spPr>
            <a:solidFill>
              <a:srgbClr val="1A5A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5-6 ετών</c:v>
                  </c:pt>
                  <c:pt idx="1">
                    <c:v>7-8 ετών</c:v>
                  </c:pt>
                  <c:pt idx="2">
                    <c:v>9-10 ετών</c:v>
                  </c:pt>
                  <c:pt idx="3">
                    <c:v>11-12 ετών</c:v>
                  </c:pt>
                  <c:pt idx="4">
                    <c:v>13+ ετών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21</c:v>
                </c:pt>
                <c:pt idx="2">
                  <c:v>38</c:v>
                </c:pt>
                <c:pt idx="3">
                  <c:v>26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ημερήσιοι χρήστες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1306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D3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FC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865F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CA5E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YouTube</c:v>
                  </c:pt>
                  <c:pt idx="1">
                    <c:v>TikTok</c:v>
                  </c:pt>
                  <c:pt idx="2">
                    <c:v>Instagram</c:v>
                  </c:pt>
                  <c:pt idx="3">
                    <c:v>WhatsApp</c:v>
                  </c:pt>
                  <c:pt idx="4">
                    <c:v>Snapchat</c:v>
                  </c:pt>
                  <c:pt idx="5">
                    <c:v>Discord</c:v>
                  </c:pt>
                  <c:pt idx="6">
                    <c:v>Roblox</c:v>
                  </c:pt>
                  <c:pt idx="7">
                    <c:v>Telegram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</c:v>
                </c:pt>
                <c:pt idx="1">
                  <c:v>67</c:v>
                </c:pt>
                <c:pt idx="2">
                  <c:v>61</c:v>
                </c:pt>
                <c:pt idx="3">
                  <c:v>58</c:v>
                </c:pt>
                <c:pt idx="4">
                  <c:v>34</c:v>
                </c:pt>
                <c:pt idx="5">
                  <c:v>29</c:v>
                </c:pt>
                <c:pt idx="6">
                  <c:v>24</c:v>
                </c:pt>
                <c:pt idx="7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Χρήση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0000"/>
              </a:solidFill>
              <a:effectLst/>
            </c:spPr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bubble3D val="0"/>
            <c:spPr>
              <a:solidFill>
                <a:srgbClr val="000000"/>
              </a:solidFill>
              <a:effectLst/>
            </c:spPr>
          </c:dPt>
          <c:dPt>
            <c:idx val="3"/>
            <c:bubble3D val="0"/>
            <c:spPr>
              <a:solidFill>
                <a:srgbClr val="25D366"/>
              </a:solidFill>
              <a:effectLst/>
            </c:spPr>
          </c:dPt>
          <c:dPt>
            <c:idx val="4"/>
            <c:bubble3D val="0"/>
            <c:spPr>
              <a:solidFill>
                <a:srgbClr val="E1306C"/>
              </a:solidFill>
              <a:effectLst/>
            </c:spPr>
          </c:dPt>
          <c:dPt>
            <c:idx val="5"/>
            <c:bubble3D val="0"/>
            <c:spPr>
              <a:solidFill>
                <a:srgbClr val="8888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YouTube</c:v>
                </c:pt>
                <c:pt idx="1">
                  <c:v>Roblox</c:v>
                </c:pt>
                <c:pt idx="2">
                  <c:v>TikTok</c:v>
                </c:pt>
                <c:pt idx="3">
                  <c:v>WhatsApp</c:v>
                </c:pt>
                <c:pt idx="4">
                  <c:v>Instagram</c:v>
                </c:pt>
                <c:pt idx="5">
                  <c:v>Αλλα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78</c:v>
                </c:pt>
                <c:pt idx="1">
                  <c:v>52</c:v>
                </c:pt>
                <c:pt idx="2">
                  <c:v>38</c:v>
                </c:pt>
                <c:pt idx="3">
                  <c:v>31</c:v>
                </c:pt>
                <c:pt idx="4">
                  <c:v>24</c:v>
                </c:pt>
                <c:pt idx="5">
                  <c:v>14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περιστατικών</c:v>
                </c:pt>
              </c:strCache>
            </c:strRef>
          </c:tx>
          <c:spPr>
            <a:solidFill>
              <a:srgbClr val="25D3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D3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1306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865F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FC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00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289D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8888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WhatsApp</c:v>
                  </c:pt>
                  <c:pt idx="1">
                    <c:v>Instagram</c:v>
                  </c:pt>
                  <c:pt idx="2">
                    <c:v>TikTok</c:v>
                  </c:pt>
                  <c:pt idx="3">
                    <c:v>Discord</c:v>
                  </c:pt>
                  <c:pt idx="4">
                    <c:v>Snapchat</c:v>
                  </c:pt>
                  <c:pt idx="5">
                    <c:v>YouTube</c:v>
                  </c:pt>
                  <c:pt idx="6">
                    <c:v>Gaming</c:v>
                  </c:pt>
                  <c:pt idx="7">
                    <c:v>SMS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</c:v>
                </c:pt>
                <c:pt idx="1">
                  <c:v>28</c:v>
                </c:pt>
                <c:pt idx="2">
                  <c:v>19</c:v>
                </c:pt>
                <c:pt idx="3">
                  <c:v>14</c:v>
                </c:pt>
                <c:pt idx="4">
                  <c:v>11</c:v>
                </c:pt>
                <c:pt idx="5">
                  <c:v>9</c:v>
                </c:pt>
                <c:pt idx="6">
                  <c:v>8</c:v>
                </c:pt>
                <c:pt idx="7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παιδιών που εκτέθηκαν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Επαφή αγνώστων</c:v>
                  </c:pt>
                  <c:pt idx="1">
                    <c:v>Ακατάλληλο υλικό</c:v>
                  </c:pt>
                  <c:pt idx="2">
                    <c:v>Κυβερνοεκφοβισμός</c:v>
                  </c:pt>
                  <c:pt idx="3">
                    <c:v>Σεξ. παρενόχληση</c:v>
                  </c:pt>
                  <c:pt idx="4">
                    <c:v>Στοιχεία ταυτότητας</c:v>
                  </c:pt>
                  <c:pt idx="5">
                    <c:v>Οικον. εκμετάλλευση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</c:v>
                </c:pt>
                <c:pt idx="1">
                  <c:v>52</c:v>
                </c:pt>
                <c:pt idx="2">
                  <c:v>45</c:v>
                </c:pt>
                <c:pt idx="3">
                  <c:v>28</c:v>
                </c:pt>
                <c:pt idx="4">
                  <c:v>23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Αναφορές (χιλιάδες)</c:v>
                </c:pt>
              </c:strCache>
            </c:strRef>
          </c:tx>
          <c:spPr>
            <a:solidFill>
              <a:srgbClr val="E74C3C"/>
            </a:solidFill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596</c:v>
                </c:pt>
                <c:pt idx="1">
                  <c:v>721</c:v>
                </c:pt>
                <c:pt idx="2">
                  <c:v>834</c:v>
                </c:pt>
                <c:pt idx="3">
                  <c:v>921</c:v>
                </c:pt>
                <c:pt idx="4">
                  <c:v>1130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Ηλικία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8F5A"/>
              </a:solidFill>
              <a:effectLst/>
            </c:spPr>
          </c:dPt>
          <c:dPt>
            <c:idx val="1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bubble3D val="0"/>
            <c:spPr>
              <a:solidFill>
                <a:srgbClr val="E74C3C"/>
              </a:solidFill>
              <a:effectLst/>
            </c:spPr>
          </c:dPt>
          <c:dPt>
            <c:idx val="3"/>
            <c:bubble3D val="0"/>
            <c:spPr>
              <a:solidFill>
                <a:srgbClr val="8E44A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7-9 ετών</c:v>
                </c:pt>
                <c:pt idx="1">
                  <c:v>10-12 ετών</c:v>
                </c:pt>
                <c:pt idx="2">
                  <c:v>13-15 ετών</c:v>
                </c:pt>
                <c:pt idx="3">
                  <c:v>16-17 ετών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</c:v>
                </c:pt>
                <c:pt idx="1">
                  <c:v>22</c:v>
                </c:pt>
                <c:pt idx="2">
                  <c:v>45</c:v>
                </c:pt>
                <c:pt idx="3">
                  <c:v>25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520440"/>
            <a:ext cx="9144000" cy="1508760"/>
          </a:xfrm>
          <a:prstGeom prst="rect">
            <a:avLst/>
          </a:prstGeom>
          <a:solidFill>
            <a:srgbClr val="1A5A8F">
              <a:alpha val="60000"/>
            </a:srgbClr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11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ΑΣΦΑΛΕΙΑ ΠΑΙΔΙΩΝ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ΣΤΟΝ ΚΥΒΕΡΝΟΧΩΡΟ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SAFETY IN CYBERSPACE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 Εκπαιδευτικούς, Γονείς, Αρχές &amp; Επαγγελματίες IT | Ηλικίες 6-16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566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Ελλάδα &amp; Ευρωπαϊκή Ενωση | Greece &amp; European Union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9776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Statista.com | Europol | IWF | EU Kids Online | SafeLine.gr | ENISA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ΔΟΜΗ ΠΑΡΟΥΣΙΑΣΗΣ / PRESENTATION STRUCTURE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00600" y="1005840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60704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Ψηφιακό Τοπίο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92040" y="1060704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Εφαρμογές &amp; Κίνδυνοι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664208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664208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71907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Grooming &amp; Κυνηγοί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71907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Sexting, CSAM &amp; Νόμος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2322576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2322576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37744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Κυβερνοεκφοβισμός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Κίνδυνοι Τοποθεσίας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2980944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980944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03580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Εφαρμογές Γνωριμιών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03580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Dark Web &amp; Tor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" y="3639312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639312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369417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Ηλικίες 6-11 (Εστία Α)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69417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Ηλικίες 12-16 (Εστία Β)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" y="4297680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4297680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4352544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Γονείς &amp; Παιδιά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352544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Φορείς &amp; Πρωτόκολλα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1 / SECTION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Ψηφιακό Τοπίο Σήμερα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Landscape Today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Ψηφιακή Πραγματικότητα Παιδιών / Children's Digital Reality - EU &amp; Greece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παιδιών 6-17 έχουν πρόσβαση internet στην ΕΕ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children 6-17 have internet access in EU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Statista/Eurostat 2024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20440" y="10515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188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3.2h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611880" y="2487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μέσος χρόνος online παιδιών ημερησίως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online time for children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Statista 2024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188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858000" y="2487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ανηλίκων γνώρισε αγνώστους online χωρίς να ενημερώσουν γονέα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minors met strangers online without informing parents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EU Kids Online 2023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Ηλικία Πρώτης Χρήσης Smartphone / Age of First Smartphone Use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Statista / Eurostat Digital Society 2023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Δημοφιλέστερες Πλατφορμες Ελλήνων Εφήβων 13-17 / Most Popular Platforms Greek Teens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Statista Greece 2023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Ψηφιακό Αποτύπωμα / Digital Footprint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δραστηριότητα online αφήνει μόνιμα ίχνη - ακόμα και μετά τη 'διαγραφή'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online activity leaves permanent traces - even after deletion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metadata φωτογραφιών: GPS, ώρα, συσκευή - αόρατο στο παιδί / Photo EXIF metadata: GPS, time, device - invisible to child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versions, archive.org, screenshots - τίποτα δεν εξαφανίζεται πλήρως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ΑΡΧΗ: Αν δεν θα το έλεγες στους γονείς σου, μην το δημοσιεύεις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you would not say it to your parents, do not post it
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2 / SECTION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&amp; Πλατφορμες - Κίνδυνοι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Platforms - Detailed Risks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8C300"/>
          </a:solidFill>
          <a:ln w="12700">
            <a:solidFill>
              <a:srgbClr val="E8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Snapchat - Κίνδυνοι &amp; Snap Map / Risks &amp; Snap Map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εκατ. χρήστες | 1,5 εκατ.+ Ελληνόφωνοι (2024) | Min age: 13 - χωρίς επαλήθευση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MAP: αποκαλύπτει ακριβή θέση σε πραγματικό χρόνο / reveals exact location in real time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Αυτόματη διαγραφή μηνυμάτων: ψευδαίσθηση ασφάλειας - χρησιμοποιείται για αποστολή υλικού χωρίς ίχνη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Auto-deletion: false safety - used to send material without traces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Add αλγόριθμος: προωθεί σύνδεση με αγνώστους / promotes connections with strangers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Bitmoji: ψεύτικη ταυτότητα - απόκρυψη πραγματικής ηλικίας θύτη / fake identity - hiding real age
</a:t>
            </a:r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εφαρμογή grooming ανηλίκων στην Ευρώπη (Internet Watch Foundation 2023)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Viber - Κίνδυνοι / Risks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96012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160520" cy="3657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960120"/>
            <a:ext cx="416052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784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(2 δισ. χρήστες)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9784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Viber (Ελλάδα #1 - 80%+ χρήση)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3977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encryption: μπλοκάρει παρακολούθηση αρχών / blocks monitoring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24h: disappearing content - ίχνη δύσκολα / traces difficult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Channels: μαζική αποστολή χωρίς φιλτράρισμα / mass content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Groups: ανεξέλεγκτη προσθήκη μελών από τρίτους / uncontrolled members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Άγνωστοι αριθμοί στέλνουν μηνύματα by default / Unknown numbers
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977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Παιδιά 10+ ευρέως χρησιμοποιούν Viber / Children 10+ widely use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χωρίς εποπτεία περιεχομένου / without supervision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Location σε πραγματικό χρόνο / real-time GPS sharing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Disappearing messages 2023+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Video/voice calls με αγνώστους / with strangers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Κλήσεις από άγνωστους αριθμούς / calls from unknown numbers
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- Κίνδυνοι για Gamers / Risks for Gamers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εκατ. εγγεγραμμένοι | 150 εκατ. ενεργοί/μήνα | 600.000+ ανήλικοι στην Ελλάδα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χωρίς έλεγχο ηλικίας μελών / Servers without member age verification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NSFW κανάλια εντός server: ενηλίκων περιεχόμενο προσβάσιμο σε ανηλίκους / adult content in servers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Messages (DMs): άμεση επαφή αγνώστων με παιδιά / direct stranger contact with children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networks: καταγεγραμμένη χρήση για διανομή CSAM (Europol 2023)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integration (Minecraft, Fortnite): ελκύει παιδιά 8-14 / attracts children 8-14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share / Go Live: ζωντανή οθόνη χωρίς φιλτράρισμα / live screen without filtering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Europol IOCTA 2023 | Statista 2024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- Αλγοριθμικός Κίνδυνος / Algorithmic Risk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 δισ. χρήστες | Ελλάδα: 67% εφήβων 13-17 χρησιμοποιεί καθημερινά (Statista 2023)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Αλγόριθμος εξατομίκευσης: οδηγεί σε ολοένα πιο ακραίο περιεχόμενο / leads to increasingly extreme content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Duets &amp; Stitch: ενσωμάτωση βίντεο παιδιών σε περιεχόμενο αγνώστων / embedding children in strangers' content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LIVE: χωρίς εποπτεία - DMs ανοιχτά / unsupervised - DMs open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Gifts: εικονικά δώρα που ενθαρρύνουν παιδιά να μένουν online / virtual gifts encouraging children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challenges: viral προκλήσεις επικίνδυνης συμπεριφοράς / dangerous viral challenges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Πρόσβαση θυτών μέσω σχολίων σε δημόσια προφίλ / offender access via comments on public profiles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Statista Greece 2023 | ENISA 2023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Χρήση Ηλικίες 6-12 / Social Media Use Ages 6-12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 Kids Online / Statista 2023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Platforms ως Πύλες Grooming / Gaming as Grooming Gateways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96012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160520" cy="3657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960120"/>
            <a:ext cx="4160520" cy="365760"/>
          </a:xfrm>
          <a:prstGeom prst="rect">
            <a:avLst/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784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Roblox (6-12 ετών)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9784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Minecraft / Fortnite / Gaming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3977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εκατ. ημερήσιοι χρήστες / 88M daily users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In-game chat: άμεση επαφή με αγνώστους / direct stranger contact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Robux: θύτες ΔΩΡΙΖΟΥΝ σε αντάλλαγμα φωτογραφιών / GIFT for photos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User-generated content ανεξέλεγκτο / uncontrolled content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400.000+ παιδιά κάτω 13 στην Ελλάδα
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977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servers χωρίς κεντρικό έλεγχο / no central control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chat κατά παιχνίδι με αγνώστους / with strangers worldwide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Gifting systems: δελεασμός / luring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Cross-platform: κονσόλα, PC, κινητό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parallel communication / παράλληλη επικοινωνία
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ΠΡΟΣΟΧΗ / WARNING  -  Telegram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651760"/>
          </a:xfrm>
          <a:prstGeom prst="roundRect">
            <a:avLst>
              <a:gd name="adj" fmla="val 3448"/>
            </a:avLst>
          </a:prstGeom>
          <a:solidFill>
            <a:srgbClr val="3D0000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εκατ. χρήστες/μήνα. Secret Chats: πλήρης κρυπτογράφηση χωρίς δυνατότητα παρακολούθησης αρχών. Channels με χιλιάδες συνδρομητές. Bots διανομής CSAM. Αρχεία έως 2GB χωρίς έλεγχο περιεχομένου. Μηδενική επαλήθευση ηλικίας.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900M monthly users. Secret Chats: full encryption without authority monitoring. Channels with thousands of subscribers. CSAM distribution bots. Files up to 2GB without content inspection. Zero age verification.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Europol IOCTA 2023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3 / SECTION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Κυνηγοί Παιδιών &amp; Grooming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Predators &amp; Grooming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Παιδική Κακοποίηση Online - Αριθμοί / Online Child Abuse - Numbers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θυμάτων δεν αναφέρουν ποτέ το περιστατικό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victims never report the incident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EU Kids Online 2023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20440" y="10515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188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611880" y="2487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μήνες μέσος χρόνος grooming πριν κατάχρηση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average grooming before abuse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IWF/ECPAT 2023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188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858000" y="2487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ιστοτόποι CSAM εντοπίστηκαν παγκοσμίως 2023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CSAM websites identified globally 2023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IWF Annual Report 2023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Στάδια Grooming / 6 Stages of Grooming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Επιλογη Θύματος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Selection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64408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64408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Εμπιστοσύνη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64408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71616" y="96012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63056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63056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Πλήρωση Αναγκών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63056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Fulfillment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611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Απομόνωση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72968" y="306324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64408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64408" y="3611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Αποσιωπητισμός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64408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Desensitisation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71616" y="306324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63056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63056" y="3611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Ελεγχος/Απειλές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63056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Control/Threats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Τεχνικές Grooming Online / Online Grooming Techniques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Ψεύτικα προφίλ νεαρών ατόμων ή διασημοτήτων / Fake profiles of young people or celebrities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Αρχική επαφή σε gaming ή δημόσια σχόλια / Initial contact on gaming or public comments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Μεταφορά σε ιδιωτικό κανάλι: Discord DM, WhatsApp, Signal / Transfer to private channel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Δώρα: Robux, V-bucks, iTunes cards, cash / Gifts: in-game currency, iTunes cards, cash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Σταδιακή ομαλοποίηση σεξουαλικού περιεχομένου / Gradual normalisation of sexual content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Απομόνωση: 'Μόνο εγώ σε καταλαβαίνω' / 'Only I understand you'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Απειλές: 'Αν πεις κάτι θα δείξω τις φωτογραφίες σου' / 'If you tell I will show your photos'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Εκμετάλλευση ανάγκης για αγάπη, αποδοχή, αναγνώριση / Exploitation of need for love and acceptance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ECPAT / Europol / IWF 2023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Σήματα Προειδοποίησης / Warning Signs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Μυστικότητα: κλείνει οθόνη όταν πλησιάζει ενήλικας / Closes screen when adult approaches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Λαμβάνει δώρα, χρήματα ή gadgets από άγνωστες πηγές / Receives gifts from unknown sources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Χρησιμοποιεί συσκευή τη νύχτα ή σε ασυνήθιστες ώρες / Uses device at night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Αποσύρεται ξαφνικά από φίλους και οικογένεια / Sudden withdrawal from friends and family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Γνώση σεξουαλικού περιεχομένου ακατάλληλου για ηλικία / Knowledge of age-inappropriate sexual content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Αναφέρεται σε νέο 'φίλο' που κανείς δεν γνωρίζει / Refers to new 'friend' no one knows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Εκνευρισμός όταν δεν μπορεί να χρησιμοποιήσει συσκευή / Upset when cannot use device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Αλλαγές συμπεριφοράς, κατάθλιψη, πτώση σχολικής απόδοσης / Behavioural changes, depression, academic decline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NSPCC / SafeLine.gr / ECPAT 2023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Τύποι Θυτών Online / Types of Online Offenders</a:t>
            </a:r>
            <a:endParaRPr lang="en-US" sz="2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02336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Τύπος/Type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Μέθοδος/Method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Πλατφόρμα/Platform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Κίνδυνος/Risk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 Offender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Εκμεταλλεύεται ευκαιρίες - συχνά γνωστός / exploits opportunities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Roblox, Discord, WhatsApp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Μέτριος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Preferential Offender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Συστηματικό σχέδιο - αποκλειστική έλξη παιδιά / systematic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Telegram, Snap, TikTok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Πολύ Υψηλός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Organised Networks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Διεθνή δίκτυα παραγωγής CSAM / international CSAM networks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Web, Telegram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Εξτρέμ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Sextortion Extorter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Απόσπαση υλικού και εκβιασμός / material extraction and blackmail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Instagram, Discord, Snap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Υψηλός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Catfisher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Ψεύτικη ταυτότητα για εξαπάτηση / fake identity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Tinder, Instagram, Discord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Υψηλός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Europol IOCTA 2023 | Interpol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4 / SECTION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Sexting, CSAM &amp; Sextortion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 &amp; Digital Exploitation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Sexting &amp; CSAM - Στατιστικά / Statistics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εφήβων 14-17 έχουν στείλει sexting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teens 14-17 have sent sexting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EU Kids Online 2023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20440" y="10515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188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611880" y="2487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όσων στέλνουν sexting: κάτω από πίεση/αίτηση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who sext: under pressure or request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IWF 2023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188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858000" y="2487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περιστατικά sextortion ανηλίκων στην Ελλάδα 2023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sextortion incidents involving minors in Greece 2023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Δίωξη Ηλ. Εγκλήματος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Νομικό Πλαίσιο / Legal Framework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96012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160520" cy="3657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960120"/>
            <a:ext cx="416052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784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Ελληνική Νομοθεσία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9784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Ευρωπαϊκό Πλαίσιο / EU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3977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Αρθρο 348Α ΠΚ: CSAM - φυλάκιση 2-10 ετών / 2-10 years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Αρθρο 348Β ΠΚ: Grooming - 2-5 ετών / 2-5 years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Αρθρο 337 ΠΚ: Γενετήσια πράξη ανηλίκου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Ν.4619/2019: Αυστηροποίηση ποινών / Stricter penalties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GDPR: ελάχιστη ηλικία 13 με γονεϊκή συγκατάθεση
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977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Οδηγία 2011/93/ΕΕ: σεξουαλική κακοποίηση ανηλίκων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(ΕΕ) 2016/679: προστασία δεδομένων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Services Act 2022: υποχρεώσεις VLOP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ePrivacy Regulation: προστασία επικοινωνιών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Οδηγία Θυμάτων 2012/29/ΕΕ: δικαιώματα θυμάτων
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ΠΡΟΣΟΧΗ / WARNING  -  Sextortion - Ταχύτερα Αυξανόμενη Απειλή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651760"/>
          </a:xfrm>
          <a:prstGeom prst="roundRect">
            <a:avLst>
              <a:gd name="adj" fmla="val 3448"/>
            </a:avLst>
          </a:prstGeom>
          <a:solidFill>
            <a:srgbClr val="3D0000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Φάση 1: Θύτης αποκτά φωτογραφίες/βίντεο μέσω grooming, hacking ή trick. Φάση 2: Απαιτεί χρήματα ή περισσότερο υλικό απειλώντας δημοσίευση. Φάση 3: Ακόμα και αν πληρωθεί, οι απαιτήσεις ΔΕΝ σταματούν. Οργανωμένα δίκτυα στοχεύουν εφήβους 14-17. ΠΟΤΕ μην πληρώνεται ο εκβιαστής.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Offender obtains photos/videos via grooming, hacking or trick. Phase 2: Demands money threatening publication. Phase 3: Even if paid, demands NEVER stop. Organised networks target teens 14-17. NEVER pay the blackmailer.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Δίωξη Ηλ. Εγκλήματος ΕΛ.ΑΣ. 2023 | Europol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Κάνω αν Εμπλακώ / What To Do If Involved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ΜΗΝ πληρώσεις ποτέ εκβιαστή - αυξάνει τις απαιτήσεις / NEVER pay a blackmailer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ΜΗΝ διαγράψεις αποδεικτικά στοιχεία / DO NOT delete evidence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Αναφορά στη Δίωξη Ηλεκτρονικού Εγκλήματος: 11188 (24/7) / Cybercrime Division: 11188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Αναφορά στο SafeLine.gr (ανώνυμα / anonymously)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+ Report στην πλατφόρμα / Block + Report on the platform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Αποθήκευση screenshots ΠΡΙΝ το block / Save screenshots BEFORE blocking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Ζητήστε υποστήριξη από έμπιστο ενήλικα ή σχολικό ψυχολόγο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support from a trusted adult or school psychologist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SafeLine.gr | NCMEC | Thorn.org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5 / SECTION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Κυβερνοεκφοβισμός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Κυβερνοεκφοβισμός - Αριθμοί / Cyberbullying - Numbers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Ελλήνων εφήβων 12-17 έχουν βιώσει κυβερνοεκφοβισμό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Greek teens 12-17 experienced cyberbullying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Statista/ELSTAT 2023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20440" y="10515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188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611880" y="2487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θυμάτων αναφέρει σκέψεις αυτοτραυματισμού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report thoughts of self-harm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EU Kids Online/WHO 2023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188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858000" y="248716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αναφέρουν τον εκφοβισμό πουθενά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33832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report the bullying anywhere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Saferinternet.gr 2023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Μορφές Κυβερνοεκφοβισμού / Forms of Cyberbullying</a:t>
            </a:r>
            <a:endParaRPr lang="en-US" sz="2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02336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Μορφη/Form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Περιγραφη/Description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Κυρια Πλατφορμα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Harassment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Επαναλ. προσβλητικά μηνύματα / Repeated offensive messages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WhatsApp, Discord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Αποκλεισμός από online ομάδες / Exclusion from online groups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Groups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Doxing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Δημοσίευση προσωπικών στοιχείων / Publishing personal 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TikTok, Twitter/X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Impersonation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Ψεύτικο προφίλ θύματος / Fake victim profile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Instagram, TikTok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Shaming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Επικρίσεις εμφάνισης / Appearance criticism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Instagram, TikTok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Cyberstalking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Επίμονη παρακολούθηση / Persistent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Instagram, WhatsApp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Αποκάλυψη ιδιωτικών πληροφοριών / Revealing private info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Ολες/All platforms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Saferinternet.gr | ENISA | SafeLine.gr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Κυβερνοεκφοβισμός στο Σχολείο / Cyberbullying at School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Ομαδικές συνομιλίες τάξης: μέσο δημόσιας ταπείνωσης / Class group chats: public humiliation medium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Κοινοποίηση ταπεινωτικών φωτογραφιών/βίντεο χωρίς συγκατάθεση / Sharing humiliating content without consent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Ανώνυμοι λογαριασμοί για στοχοποίηση συμμαθητών / Anonymous accounts targeting classmates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Polls: ψηφοφορίες 'ποιος είναι ο χειρότερος' / 'who is worst' polls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σταματά εκτός σχολείου - συνεχίζεται 24/7 / Does NOT stop outside school - continues 24/7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Βιντεοσκόπηση χωρίς άδεια και viral sharing / Filming without permission and viral sharing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Εκπαιδευτικοί: νομική υποχρέωση αναφοράς / Teachers: legal obligation to report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Saferinternet.gr | ΕΛ.ΑΣ. 2023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Που Συμβαίνει ο Κυβερνοεκφοβισμός / Where Cyberbullying Happens (Greece 2023)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Saferinternet.gr / Δίωξη Ηλ. Εγκλήματος 2023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6 / SECTION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Κίνδυνοι Τοποθεσίας - Snap Map &amp; GPS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Risks - Snap Map &amp; Geolocation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Κίνδυνοι Τοποθεσίας / Location Risks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παιδιών 10-15 έχουν ενεργή κοινή χρήση θέσης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children 10-15 have active location sharing enabled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977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Statista/Ofcom 2023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887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937760" y="24871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γονέων δεν γνωρίζουν ότι παιδί μοιράζεται θέση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3832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parents unaware child shares location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3977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UK Safer Internet Centre 2023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ΠΡΟΣΟΧΗ / WARNING  -  Snap Map - Η Θέση σου σε Πραγματικό Χρόνο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651760"/>
          </a:xfrm>
          <a:prstGeom prst="roundRect">
            <a:avLst>
              <a:gd name="adj" fmla="val 3448"/>
            </a:avLst>
          </a:prstGeom>
          <a:solidFill>
            <a:srgbClr val="3D0000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Snap Map εμφανίζει ακριβή θέση χρήστη σε πραγματικό χρόνο. Θύτης μπορεί να δει: πού βρίσκεσαι, πότε φεύγεις από σπίτι, πότε είσαι μόνος/η. Έχει χρησιμοποιηθεί σε υποθέσεις απαγωγής και σεξουαλικής κακοποίησης στην Ευρώπη.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Map shows exact user location in real time. Offender can see: where you are, when you leave home, when you are alone. Has been used in abduction and sexual abuse cases across Europe.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IWF / NCMEC / Europol 2022-2023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Γεωεντοπισμός &amp; Μεταδεδομένα Φωτογραφιών / Geolocation &amp; Photo Metadata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φωτογραφία smartphone περιέχει EXIF data: GPS, ημερομηνία, ώρα, τύπο συσκευής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smartphone photo contains EXIF data: GPS coordinates, date, time, device type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Αποστολή φωτογραφίας σε άγνωστο = αποστολή σπιτιού σου, σχολείου, ρουτίνας σου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photo to a stranger = sending your home location, school, daily routine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Instagram/Snapchat Story Location Tags: αποκαλύπτουν σχολείο, σπίτι, τοποθεσίες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ΛΥΣΗ: Απενεργοποίηση GPS κάμερας / SOLUTION: Disable camera GPS - Settings &gt; Privacy &gt; Location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Mode (Snapchat): ενεργοποίησε πριν αρχίσεις να χρησιμοποιείς / enable before using app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Settings &gt; Privacy &gt; Location Sharing &gt; OFF
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7 / SECTION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Γνωριμιών &amp; Πλατφορμες Ενηλίκων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Apps &amp; Adult Platforms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Ανήλικοι σε Dating Apps / Minors on Dating Apps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χρηστών Tinder είναι κάτω των 18 παρά τον ηλικιακό περιορισμό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Tinder users are under 18 despite age restriction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977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Statista 2023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1A5A8F"/>
          </a:solidFill>
          <a:ln w="254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887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937760" y="24871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εφαρμογή γνωριμιών επαληθεύει ηλικία με ταυτότητα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3832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apps verify age with identity document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3977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Stanford Internet Observatory 2023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Εφαρμογές Γνωριμιών - Κίνδυνοι / Dating Apps - Risks</a:t>
            </a:r>
            <a:endParaRPr lang="en-US" sz="2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02336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Εφαρμογη/App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Ελαχ. Ηλικια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Επαληθευση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Κίνδυνος Ανηλίκου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Αριθμός τηλ. / 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Υψηλός - 7.8% ανήλικοι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Bumble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Φωτογραφία μόνο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Υψηλός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Badoo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Email/Social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Πολύ Υψηλός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μόνο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Υψηλός - Ελλάδα/Ν.Ευρώπη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Grindr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Email/Social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Πολύ Υψηλός - LGBTQ+ teens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OkCupid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Email/Social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Υψηλός - search by 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Stanford Internet Observatory 2023 | Statista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8 / SECTION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Web, Tor &amp; Κρυφά Δίκτυα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Web, Tor &amp; Hidden Networks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2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ΠΡΟΣΟΧΗ / WARNING  -  Dark Web - Πώς Φτάνουν τα Παιδιά / How Children Get There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651760"/>
          </a:xfrm>
          <a:prstGeom prst="roundRect">
            <a:avLst>
              <a:gd name="adj" fmla="val 3448"/>
            </a:avLst>
          </a:prstGeom>
          <a:solidFill>
            <a:srgbClr val="3D0000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dark web προσβάσιμο μέσω Tor Browser (ελεύθερο download). Παιδιά μαθαίνουν μέσω YouTube tutorials, TikTok Shorts, gaming communities. 80% dark web περιεχομένου συνδέεται με παράνομες δραστηριότητες. Χρησιμοποιείται από εγκληματικά δίκτυα CSAM, sextortion, trafficking.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web accessible via Tor Browser (free download). Children learn through YouTube tutorials, TikTok, gaming communities. 80% of dark web content linked to illegal activities. Used by CSAM criminal networks, sextortion, trafficking.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Europol IOCTA 2023 | Thorn.org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Εργαλεία Θυτών / Offender Technical Tools</a:t>
            </a:r>
            <a:endParaRPr lang="en-US" sz="21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02336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Εργαλειο/Tool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Λειτουργια/Function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Εντοπισμος/Detectability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Browser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Ανωνυμοποίηση IP / IP anonymisation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Δύσκολος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Κρυπτογράφηση + θέση / Encryption + 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Μέτριος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Tails 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Λειτ/κό χωρίς ίχνη / Traceless 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Πολύ Δύσκολος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Monero (XMR)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Κρυπτονόμισμα ανωνυμίας / Privacy crypto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Δύσκολος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Signal/Wickr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Αυτοκαταστρεφόμενα μηνύματα / Self-destructing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Δύσκολος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Steganography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Απόκρυψη CSAM σε αθώα αρχεία / CSAM in innocent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Πολύ Δύσκολος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Europol | ENISA Threat Landscape 2023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9 / SECTION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Εστία Α: Ηλικίες 6-11 - Πρωτοβάθμια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A: Ages 6-11 - Primary School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Χαρακτηριστικά 6-11 / Age Group 6-11 Characteristics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Πρώτη επαφή με ψηφιακές συσκευές - σχηματίζεται η βάση ψηφιακής συμπεριφοράς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 with digital devices - foundation of digital behaviour is formed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κατανοούν πλήρως την έννοια ξένου online / Do not fully understand online stranger concept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Υψηλή εμπιστοσύνη: αν κάποιος φαίνεται φιλικός, τον εμπιστεύονται / If someone seems friendly they trust them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Κύριες πλατφόρμες: Roblox, YouTube Kids, Minecraft, TikTok (παρά τον ηλικιακό περιορισμό)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αναφέρουν προβλήματα φοβούμενοι ότι θα χάσουν τη συσκευή / Fear losing device so don't report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Εκπαίδευση απαιτεί παιγνιώδη μεθοδολογία / Education requires playful methodology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Γονεϊκή εποπτεία 100% απαραίτητη / Parental supervision 100% necessary
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Κανόνες Ψηφιακής Ασφάλειας 6-11 / Digital Safety Rules 6-11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ΣΤΑΜΑΤΑ - αν κάτι σε κάνει να νιώθεις άβολα / STOP - if something makes you uncomfortable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Δεν μοιράζομαι όνομα, διεύθυνση, σχολείο, τηλέφωνο / Never share name, address, school, phone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Δεν δέχομαι αιτήματα φιλίας από αγνώστους / Never accept friend requests from strangers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Ρωτώ γονέα πριν κατεβάσω εφαρμογή / Ask parent before downloading app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Δεν κάνω κλικ σε συνδέσμους από αγνώστους / Never click links from strangers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Αν νιώσω άβολα, πάω ΑΜΕΣΩΣ σε γονέα ή δάσκαλο / If uncomfortable go IMMEDIATELY to parent or teacher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Ασφαλή μυστικά = μόνο εκπλήξεις. Ανασφαλή = κάτι που σε κάνει να νιώθεις ντροπή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secrets = only surprises. Unsafe = anything making you feel shame or discomfort
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Εκπαιδευτικές Δραστηριότητες 6-11 / Educational Activities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2834640" cy="384048"/>
          </a:xfrm>
          <a:prstGeom prst="rect">
            <a:avLst/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966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Ψηφιακό Αποτύπωμα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Παιχνίδι 'άμμος &amp; κύματα' - τι μένει online; / 'Sand &amp; waves' game - what stays online?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960120"/>
            <a:ext cx="2834640" cy="384048"/>
          </a:xfrm>
          <a:prstGeom prst="rect">
            <a:avLst/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9966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Ασφαλή vs Μη Μυστικά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4173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Σενάρια ρόλων: ποια μυστικά αναφέρω; / Role play: which secrets do I report?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834640" cy="384048"/>
          </a:xfrm>
          <a:prstGeom prst="rect">
            <a:avLst/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966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STOP-THINK-GO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Σταματάω &gt; Σκέφτομαι &gt; Πάω σε γονέα / Stop &gt; Think &gt; Go to parent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301752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017520"/>
            <a:ext cx="2834640" cy="384048"/>
          </a:xfrm>
          <a:prstGeom prst="rect">
            <a:avLst/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540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Online Φίλος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34747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Πώς ξέρω αν online φίλος είναι αληθινός; / How do I know if online friend is real?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301752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3017520"/>
            <a:ext cx="2834640" cy="384048"/>
          </a:xfrm>
          <a:prstGeom prst="rect">
            <a:avLst/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0540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Χαρτογράφηση Εφαρμογών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34747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Ποιες εφαρμογές είναι ασφαλείς; / Which apps are safe?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017520"/>
            <a:ext cx="2834640" cy="384048"/>
          </a:xfrm>
          <a:prstGeom prst="rect">
            <a:avLst/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0540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Ψηφιακή Πυξίδα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4747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Σε ποιον εμπιστεύομαι online και γιατί; / Who do I trust online and why?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10 / SECTION 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Εστία Β: Ηλικίες 12-16 - Δευτεροβάθμια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B: Ages 12-16 - Secondary School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Χαρακτηριστικά 12-16 / Age Group 12-16 Characteristics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Κρίσιμη περίοδος ταυτότητας: ευαίσθητοι σε αποδοχή, peer pressure, σχέσεις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identity period: sensitive to acceptance, peer pressure, relationships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Αυξημένη αυτονομία online χωρίς αντίστοιχη κατανόηση κινδύνων / Increased autonomy without risk understanding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ως κύριο μέσο κοινωνικοποίησης / Social media as main socialisation medium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Sexting: 28% εφήβων 14-17 - πολύ συχνά κάτω από πίεση / 28% teens 14-17 - often under pressure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apps: 7.8% χρηστών Tinder ανήλικοι παρά τον περιορισμό / 7.8% Tinder users are minors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Αποφεύγουν να μιλούν με γονείς για ψηφιακά προβλήματα / Avoid talking to parents about digital issues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validation: η γνώμη συνομηλίκων &gt; γονέων / Peer opinion &gt; parents
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Κανόνες Ψηφιακής Ασφάλειας 12-16 / Digital Safety Rules 12-16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Ψηφιακό αποτύπωμα: ό,τι στέλνεις μπορεί να παραμείνει για πάντα - ακόμα αν διαγραφεί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Digital footprint: what you send can stay forever - even if deleted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Δεν στέλνω σεξουαλικές εικόνες - ακόμα και σε 'φίλο'. Ποινικό αδίκημα.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Never send sexual images - even to a 'friend'. Criminal offence.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Ελέγχω ρυθμίσεις απορρήτου σε κάθε εφαρμογή - τουλάχιστον μηνιαίως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 privacy settings every app - at least monthly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Δεν μοιράζομαι κωδικούς - ούτε με τον καλύτερό μου φίλο / Never share passwords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Αν κάποιος ζητά φωτογραφίες ή νιώθεις πίεση: 11188 ή SafeLine.gr ΑΜΕΣΩΣ
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Πρακτικές Δραστηριότητες 12-16 / Practical Activities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2834640" cy="384048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966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Yourself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Τι βρίσκεις για σένα online; Αξιολόγησε ψηφιακό αποτύπωμα / What appears about you online?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960120"/>
            <a:ext cx="2834640" cy="384048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9966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Audit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4173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Ελεγξε ρυθμίσεις Instagram/TikTok/Snap μαζί με δάσκαλο / Check settings together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834640" cy="384048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966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Grooming Scenarios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play: αναγνώριση grooming + τι κάνω / Recognition + response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301752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017520"/>
            <a:ext cx="2834640" cy="384048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540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Simulation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34747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Πρακτική: SafeLine.gr, 11188, platform report / Practice reporting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301752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3017520"/>
            <a:ext cx="2834640" cy="384048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0540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App Risk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46120" y="34747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 dating apps επικίνδυνες για ανηλίκους; / Why dangerous for minors?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017520"/>
            <a:ext cx="2834640" cy="384048"/>
          </a:xfrm>
          <a:prstGeom prst="rect">
            <a:avLst/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0540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 Response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4747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 είμαι θύμα ή μάρτυρας: βήματα δράσης / Steps if victim or witness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11 / SECTION 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Υπευθυνότητα Παιδιών &amp; Εμπλοκή Γονέων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Responsibility &amp; Parent Engagement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Εργαλεία Γονεϊκού Ελέγχου / Parental Control Tools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960120"/>
            <a:ext cx="41605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905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160520" cy="3657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960120"/>
            <a:ext cx="416052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784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Ενσωματωμένα / Built-in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9784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Εξωτερικά / External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3977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Screen Time: περιορισμός εφαρμογών, ώρας / app &amp; time restriction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Digital Wellbeing: παρόμοια / similar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Family Link: διαχείριση λογαριασμού παιδιού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Family Sharing: έγκριση αγορών / purchase approval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SafeSearch Google/Bing: ενεργοποίησε σε όλες τις συσκευές
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9776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Bark: AI monitoring - ειδοποίηση μόνο σε κίνδυνο / notifies only at risk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Qustodio: ελληνικό interface, πλήρης έλεγχος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OpenDNS Family Shield: router-level filtering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1.1.1.3: DNS filtering ακατάλληλου
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per-app time control σε router
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Ελληνικοί &amp; Ευρωπαϊκοί Φορείς / Greek &amp; European Organisations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11188 - Δίωξη Ηλεκτρονικού Εγκλήματος ΕΛ.ΑΣ. (24/7) / Cybercrime Division Hellenic Police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SafeLine.gr - ανώνυμη αναφορά CSAM - μέλος INHOPE / anonymous CSAM report - INHOPE member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Saferinternet.gr - εκπαιδευτικό υλικό γονείς/παιδιά / educational material parents/children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10306 - SOS Παιδική Γραμμή 24h / SOS Children's Line 24h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INHOPE: 50+ hotlines αναφοράς παράνομου υλικού σε 50 χώρες / 50+ illegal content hotlines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IWF (Internet Watch Foundation): αναφορά &amp; αφαίρεση CSAM παγκοσμίως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ECPAT International: 120+ οργανισμοί κατά εκμετάλλευσης παιδιών / 120+ orgs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ENISA: ευρωπαϊκές κατευθυντήριες γραμμές ψηφιακής ασφάλειας παιδιών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ΕΛ.ΑΣ. | SafeLine.gr | Saferinternet.gr | ECPAT | ENISA 2024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12 / SECTION 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Επαγγελματίες IT &amp; Επιβολής Νόμου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Professionals &amp; Law Enforcement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Τεχνικά Εργαλεία Ανίχνευσης CSAM / Technical CSAM Detection Tools</a:t>
            </a:r>
            <a:endParaRPr lang="en-US" sz="21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02336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Εργαλειο/Tool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Χρηση/Use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Χρηστες/Users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PhotoDNA (Microsoft)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Hash-based CSAM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Facebook, Google, Microsoft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VIC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CSAM hash 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 Enforcement worldwide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CAID (UK)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Abuse Image 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Police, EU LE partners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NCMEC CyberTipline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reporting + Interpol/Europol 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Platforms, Law Enforcement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Autopsy / EnCase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forensics - evidence recovery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Police, Prosecutors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Cellebrite UFED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device data extraction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 Enforcement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Europol | NCMEC | IWF | ENISA 2023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Ψηφιακή Εγκληματολογία / Digital Forensics - Chain of Evidence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image: αυθεντικό αντίγραφο ΠΡΙΝ οποιαδήποτε επεξεργασία / BEFORE any processing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blocker: αποτρέπει αλλοίωση δεδομένων κατά εξέταση / prevents data alteration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verification MD5/SHA-256: πριν ΚΑΙ μετά εξέταση / before AND after examination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custody: τεκμηρίωση κάθε βήματος με timestamp / every step timestamped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Εργαλεία: Autopsy, EnCase, FTK, Cellebrite, XRY, UFED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extraction: EXIF, browser history, app data, deleted files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forensics: iCloud, Google Drive - νόμιμη πρόσβαση μέσω δικαστικής εντολής / via court order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2022: VLOP υποχρεούνται σε ανίχνευση, αναφορά και αφαίρεση CSAM / obliged to detect, report, remove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ENISA | Europol | IACIS Digital Forensics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13 / SECTION 13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Πρωτόκολλο Αντιμετώπισης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Protocol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Βήματα Αντιμετώπισης / 5 Steps When a Child Discloses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960120"/>
            <a:ext cx="1627632" cy="4069080"/>
          </a:xfrm>
          <a:prstGeom prst="roundRect">
            <a:avLst>
              <a:gd name="adj" fmla="val 5618"/>
            </a:avLst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" y="102412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46888" y="15087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ΑΚΟΥΣΤΕ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" y="190195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1481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Μείνετε ήρεμοι. Πιστέψτε. Μην εκφράσετε σοκ.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calm. Believe. No shock.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56816" y="960120"/>
            <a:ext cx="1627632" cy="4069080"/>
          </a:xfrm>
          <a:prstGeom prst="roundRect">
            <a:avLst>
              <a:gd name="adj" fmla="val 5618"/>
            </a:avLst>
          </a:prstGeom>
          <a:solidFill>
            <a:srgbClr val="1A5A8F"/>
          </a:solidFill>
          <a:ln w="12700">
            <a:solidFill>
              <a:srgbClr val="1A5A8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48256" y="102412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02536" y="15087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ΑΝΑΦΕΡΕΤΕ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02536" y="190195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29968" y="2286000"/>
            <a:ext cx="1481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11188 ή SafeLine.gr ΑΜΕΣΩΣ.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11188 or SafeLine.gr IMMEDIATELY.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12464" y="960120"/>
            <a:ext cx="1627632" cy="4069080"/>
          </a:xfrm>
          <a:prstGeom prst="roundRect">
            <a:avLst>
              <a:gd name="adj" fmla="val 5618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3904" y="102412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58184" y="15087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ΑΠΟΔΕΙΚΤΙΚΑ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58184" y="190195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85616" y="2286000"/>
            <a:ext cx="1481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- ΜΗΝ διαγράψετε.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- DO NOT delete.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68112" y="960120"/>
            <a:ext cx="1627632" cy="4069080"/>
          </a:xfrm>
          <a:prstGeom prst="roundRect">
            <a:avLst>
              <a:gd name="adj" fmla="val 561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59552" y="102412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13832" y="15087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ΜΗΝ ΔΗΜΟΣΙΕΥΣΕΤΕ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13832" y="190195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41264" y="2286000"/>
            <a:ext cx="1481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Μην κατονομάσετε δράστη online.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name perpetrator online.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960120"/>
            <a:ext cx="1627632" cy="4069080"/>
          </a:xfrm>
          <a:prstGeom prst="roundRect">
            <a:avLst>
              <a:gd name="adj" fmla="val 561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0" y="102412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69480" y="15087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ΥΠΟΣΤΗΡΙΞΗ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69480" y="1901952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96912" y="2286000"/>
            <a:ext cx="1481328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Ψυχολόγος αμέσως.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Psychologist immediately.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Που και Πώς να Αναφέρετε / Where &amp; How to Report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11188: Δίωξη Ηλεκτρονικού Εγκλήματος ΕΛ.ΑΣ. - 24/7 / Cybercrime Division - 24/7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SafeLine.gr: ανώνυμη αναφορά online / anonymous online report - INHOPE member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10306: SOS Παιδική Γραμμή 24h / SOS Children's Line 24h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Report: report button σε κάθε πλατφόρμα / on every platform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NCMEC (international): cybertipline.missingkids.org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IWF (international): report.iwf.org.uk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ΠΟΤΕ μην διαγράφεις στοιχεία πριν αναφορά / NEVER delete evidence before reporting
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Επείγον / Urgent: 100 (ΕΛ.ΑΣ.) | 166 (ΕΚΑΒ) | 10306 (Παιδική Γραμμή)
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ΕΛ.ΑΣ. | SafeLine.gr | Saferinternet.gr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14 / SECTION 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Σύνοψη Στατιστικών / Statistical 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from Statista &amp; Major Sources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Κυριότεροι Κίνδυνοι Παιδιών Online / Top Online Risks for Children EU 2023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 Kids Online / Statista 2023 | Greece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CSAM Αναφορές Ευρώπη 2019-2023 / CSAM Reports Europe 2019-2023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Internet Watch Foundation Annual Reports 2019-2023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Ηλικιακή Κατανομή Θυμάτων / Age Distribution of Online Abuse Victims EU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ECPAT / IWF / Europol 2023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A5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ΕΝΟΤΗΤΑ 15 / SECTION 15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Γρήγορος Οδηγός / Quick Reference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2560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Summary, Reporting &amp; Next Steps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Εφαρμογες - Συνοπτικός Πίνακας / Apps Summary Table</a:t>
            </a:r>
            <a:endParaRPr lang="en-US" sz="21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402336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Εφαρμογη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Ελαχ. Ηλικια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Κύριος Κίνδυνος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Σύσταση / 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A8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 Map, auto-delete, grooming 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Ghost Mode + εποπτεία / supervision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Αλγόριθμος, Live, DMs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+ Family Pairing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NSFW servers, CSAM bots, DMs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Εποπτεία ή αποφυγή / supervise or avoid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(ΕΕ)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Groups, encryption, unknowns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Ελεγχος επαφών / check contacts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Roblox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In-game chat, Robux luring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Απενεργοποίηση chat &lt;13 / disable 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Tinder/Badoo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Ανήλικοι χρήστες, geolocation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ΑΠΟΛΥΤΗ ΑΠΑΓΟΡΕΥΣΗ &lt;18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Χωρίς όριο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chats, CSAM bots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Αποφυγή από ανηλίκους / avoid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 Browser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Χωρίς όριο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web, CSAM, εγκληματικό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ΑΠΟΛΥΤΗ ΑΠΑΓΟΡΕΥΣΗ &lt;18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Statista | IWF | Saferinternet.gr | Europol 2023-2024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ΒΑΣΙΚΕΣ ΕΠΑΦΕΣ ΕΚΤΑΚΤΗΣ ΑΝΑΓΚΗΣ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EMERGENCY CONTACTS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74C3C">
              <a:alpha val="80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11188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51760" y="146304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Δίωξη Ηλεκτρονικού Εγκλήματος / Cybercrime Division - 24/7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A5A8F">
              <a:alpha val="80000"/>
            </a:srgbClr>
          </a:solidFill>
          <a:ln w="25400">
            <a:solidFill>
              <a:srgbClr val="1A5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317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SafeLine.gr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51760" y="233172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Ανώνυμη αναφορά CSAM / Anonymous CSAM report - INHOPE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A8F5A">
              <a:alpha val="80000"/>
            </a:srgbClr>
          </a:solidFill>
          <a:ln w="25400">
            <a:solidFill>
              <a:srgbClr val="1A8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10306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1760" y="320040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Παιδική Γραμμή / SOS Children's Line - 24h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2E86C1">
              <a:alpha val="80000"/>
            </a:srgbClr>
          </a:solidFill>
          <a:ln w="254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690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Saferinternet.gr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51760" y="406908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Ψηφιακή ασφάλεια παιδιών / Digital safety resources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Statista.com | IWF | Europol | EU Kids Online | ECPAT | ENISA | SafeLine.gr | Saferinternet.gr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Ασφάλεια Παιδιών στον Κυβερνοχώρο</dc:title>
  <dc:subject>PptxGenJS Presentation</dc:subject>
  <dc:creator>PptxGenJS</dc:creator>
  <cp:lastModifiedBy>PptxGenJS</cp:lastModifiedBy>
  <cp:revision>1</cp:revision>
  <dcterms:created xsi:type="dcterms:W3CDTF">2026-06-19T03:36:16Z</dcterms:created>
  <dcterms:modified xsi:type="dcterms:W3CDTF">2026-06-19T03:36:16Z</dcterms:modified>
</cp:coreProperties>
</file>